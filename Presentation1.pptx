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6"/>
  </p:normalViewPr>
  <p:slideViewPr>
    <p:cSldViewPr snapToGrid="0">
      <p:cViewPr varScale="1">
        <p:scale>
          <a:sx n="114" d="100"/>
          <a:sy n="114" d="100"/>
        </p:scale>
        <p:origin x="4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-paccy/AgroData-Engine---Emphasizes-data-processing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8A720-08F3-BC4F-28E5-86AA7C4A16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u="sng" dirty="0">
                <a:hlinkClick r:id="rId2"/>
              </a:rPr>
              <a:t>Agrodata Engine</a:t>
            </a:r>
            <a:endParaRPr lang="en-RW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834D22-8BA0-0109-4351-6B5F1EF8A8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u="sng" dirty="0"/>
              <a:t>Emphasizes-data-processing</a:t>
            </a:r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401590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7A4B1-E6BD-096E-B8AB-BA0F345BB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7556" y="2979647"/>
            <a:ext cx="10131425" cy="1456267"/>
          </a:xfrm>
        </p:spPr>
        <p:txBody>
          <a:bodyPr/>
          <a:lstStyle/>
          <a:p>
            <a:r>
              <a:rPr lang="en-US" dirty="0">
                <a:latin typeface="ACADEMY ENGRAVED LET PLAIN:1.0" panose="02000000000000000000" pitchFamily="2" charset="0"/>
              </a:rPr>
              <a:t>P</a:t>
            </a:r>
            <a:r>
              <a:rPr lang="en-RW" dirty="0">
                <a:latin typeface="ACADEMY ENGRAVED LET PLAIN:1.0" panose="02000000000000000000" pitchFamily="2" charset="0"/>
              </a:rPr>
              <a:t>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414406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799ADA-1831-74F3-D47E-8824FD99A0A7}"/>
              </a:ext>
            </a:extLst>
          </p:cNvPr>
          <p:cNvSpPr txBox="1"/>
          <p:nvPr/>
        </p:nvSpPr>
        <p:spPr>
          <a:xfrm>
            <a:off x="1912898" y="1976658"/>
            <a:ext cx="836620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Agricultural farms suffer from disconnected data systems, manual emergency responses, and inefficient resource allocation, leading to 15-25% yield reduction and 30% water waste. Current methods lack real-time monitoring, automated protocols, and data-driven decision making, causing preventable crop losses and operational inefficiencies that significantly impact farm profitability and sustainability.</a:t>
            </a:r>
            <a:endParaRPr lang="en-RW" sz="2400" dirty="0"/>
          </a:p>
        </p:txBody>
      </p:sp>
    </p:spTree>
    <p:extLst>
      <p:ext uri="{BB962C8B-B14F-4D97-AF65-F5344CB8AC3E}">
        <p14:creationId xmlns:p14="http://schemas.microsoft.com/office/powerpoint/2010/main" val="2631311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E945C-B06E-C9B3-078A-7302B1C5B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1725108"/>
            <a:ext cx="10131427" cy="1468800"/>
          </a:xfrm>
        </p:spPr>
        <p:txBody>
          <a:bodyPr/>
          <a:lstStyle/>
          <a:p>
            <a:r>
              <a:rPr lang="en-US" b="1" dirty="0">
                <a:latin typeface="ACADEMY ENGRAVED LET PLAIN:1.0" panose="02000000000000000000" pitchFamily="2" charset="0"/>
              </a:rPr>
              <a:t>Goals:</a:t>
            </a:r>
            <a:endParaRPr lang="en-RW" dirty="0">
              <a:latin typeface="ACADEMY ENGRAVED LET PLAIN:1.0" panose="02000000000000000000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1979BE-1021-A449-CC1D-9512C475E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798" y="3429000"/>
            <a:ext cx="10131428" cy="860400"/>
          </a:xfrm>
        </p:spPr>
        <p:txBody>
          <a:bodyPr/>
          <a:lstStyle/>
          <a:p>
            <a:r>
              <a:rPr lang="en-US" dirty="0"/>
              <a:t>Automate farm operations, optimize resource use, increase crop yields, and enable data-driven agriculture through PL/SQL.</a:t>
            </a:r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479371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4AB87-9658-27FA-42D4-602B7A5DB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W" dirty="0">
                <a:latin typeface="ACADEMY ENGRAVED LET PLAIN:1.0" panose="02000000000000000000" pitchFamily="2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414CA-2D45-04A1-8E5F-164B59984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Implement collections for unified farm data management</a:t>
            </a:r>
          </a:p>
          <a:p>
            <a:r>
              <a:rPr lang="en-US" sz="2400" dirty="0"/>
              <a:t>Use records for structured crop/field tracking</a:t>
            </a:r>
          </a:p>
          <a:p>
            <a:r>
              <a:rPr lang="en-US" sz="2400" dirty="0"/>
              <a:t>Apply GOTO for automated emergency protocols</a:t>
            </a:r>
          </a:p>
          <a:p>
            <a:r>
              <a:rPr lang="en-US" sz="2400" dirty="0"/>
              <a:t>Build real-time monitoring and alert systems</a:t>
            </a:r>
          </a:p>
          <a:p>
            <a:r>
              <a:rPr lang="en-US" sz="2400" dirty="0"/>
              <a:t>Create predictive yield modeling capabilities</a:t>
            </a:r>
          </a:p>
        </p:txBody>
      </p:sp>
    </p:spTree>
    <p:extLst>
      <p:ext uri="{BB962C8B-B14F-4D97-AF65-F5344CB8AC3E}">
        <p14:creationId xmlns:p14="http://schemas.microsoft.com/office/powerpoint/2010/main" val="2542551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AA00B-945F-6FAE-EB4C-E404915FE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2" y="1960200"/>
            <a:ext cx="10131425" cy="1468800"/>
          </a:xfrm>
        </p:spPr>
        <p:txBody>
          <a:bodyPr/>
          <a:lstStyle/>
          <a:p>
            <a:r>
              <a:rPr lang="en-US" b="1" dirty="0">
                <a:latin typeface="ACADEMY ENGRAVED LET PLAIN:1.0" panose="02000000000000000000" pitchFamily="2" charset="0"/>
              </a:rPr>
              <a:t>Success Metrics:</a:t>
            </a:r>
            <a:endParaRPr lang="en-RW" dirty="0">
              <a:latin typeface="ACADEMY ENGRAVED LET PLAIN:1.0" panose="02000000000000000000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9D126-8AB1-C1A8-F796-B4ED4E04A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1" y="3706864"/>
            <a:ext cx="10131426" cy="860400"/>
          </a:xfrm>
        </p:spPr>
        <p:txBody>
          <a:bodyPr/>
          <a:lstStyle/>
          <a:p>
            <a:r>
              <a:rPr lang="en-US" dirty="0"/>
              <a:t>20% yield increase, 30% water reduction, 90% faster emergency response</a:t>
            </a:r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3453331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62104-A3D5-E59B-BAA3-F0398DA43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CADEMY ENGRAVED LET PLAIN:1.0" panose="02000000000000000000" pitchFamily="2" charset="0"/>
                <a:cs typeface="Helvetica" panose="020B0604020202020204" pitchFamily="34" charset="0"/>
              </a:rPr>
              <a:t>Main Entities in the Database</a:t>
            </a:r>
            <a:endParaRPr lang="en-RW" dirty="0">
              <a:latin typeface="ACADEMY ENGRAVED LET PLAIN:1.0" panose="02000000000000000000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0D17B8-84D6-8662-36FC-B3C8C76700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</a:t>
            </a:r>
            <a:r>
              <a:rPr lang="en-RW" dirty="0"/>
              <a:t>e will have 3 categories of entities</a:t>
            </a:r>
          </a:p>
        </p:txBody>
      </p:sp>
    </p:spTree>
    <p:extLst>
      <p:ext uri="{BB962C8B-B14F-4D97-AF65-F5344CB8AC3E}">
        <p14:creationId xmlns:p14="http://schemas.microsoft.com/office/powerpoint/2010/main" val="1988736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D9E02-C510-9D8E-686B-96F706264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843776"/>
            <a:ext cx="10131425" cy="1456267"/>
          </a:xfrm>
        </p:spPr>
        <p:txBody>
          <a:bodyPr/>
          <a:lstStyle/>
          <a:p>
            <a:r>
              <a:rPr lang="en-US" b="1" dirty="0">
                <a:latin typeface="ACADEMY ENGRAVED LET PLAIN:1.0" panose="02000000000000000000" pitchFamily="2" charset="0"/>
              </a:rPr>
              <a:t>Core Entities:</a:t>
            </a:r>
            <a:endParaRPr lang="en-RW" dirty="0">
              <a:latin typeface="ACADEMY ENGRAVED LET PLAIN:1.0" panose="0200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7EC4E-A736-028B-7C4A-6BAD0EAEF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065867"/>
            <a:ext cx="10131425" cy="3649133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CROPS</a:t>
            </a:r>
            <a:endParaRPr lang="en-US" dirty="0"/>
          </a:p>
          <a:p>
            <a:pPr lvl="1"/>
            <a:r>
              <a:rPr lang="en-US" dirty="0"/>
              <a:t>Crop varieties, growth requirements, yield data</a:t>
            </a:r>
          </a:p>
          <a:p>
            <a:r>
              <a:rPr lang="en-US" b="1" dirty="0"/>
              <a:t>FIELDS</a:t>
            </a:r>
            <a:endParaRPr lang="en-US" dirty="0"/>
          </a:p>
          <a:p>
            <a:pPr lvl="1"/>
            <a:r>
              <a:rPr lang="en-US" dirty="0"/>
              <a:t>Field characteristics, soil properties, location data</a:t>
            </a:r>
          </a:p>
          <a:p>
            <a:r>
              <a:rPr lang="en-US" b="1" dirty="0"/>
              <a:t>HARVEST_RECORDS</a:t>
            </a:r>
            <a:endParaRPr lang="en-US" dirty="0"/>
          </a:p>
          <a:p>
            <a:pPr lvl="1"/>
            <a:r>
              <a:rPr lang="en-US" dirty="0"/>
              <a:t>Historical yield data, quality metrics, timing</a:t>
            </a:r>
          </a:p>
          <a:p>
            <a:r>
              <a:rPr lang="en-US" b="1" dirty="0"/>
              <a:t>SENSOR_READINGS</a:t>
            </a:r>
            <a:endParaRPr lang="en-US" dirty="0"/>
          </a:p>
          <a:p>
            <a:pPr lvl="1"/>
            <a:r>
              <a:rPr lang="en-US" dirty="0"/>
              <a:t>Real-time environmental monitoring data</a:t>
            </a:r>
          </a:p>
          <a:p>
            <a:r>
              <a:rPr lang="en-US" b="1" dirty="0"/>
              <a:t>FARM_EVENTS</a:t>
            </a:r>
            <a:endParaRPr lang="en-US" dirty="0"/>
          </a:p>
          <a:p>
            <a:pPr lvl="1"/>
            <a:r>
              <a:rPr lang="en-US" dirty="0"/>
              <a:t>Planting, maintenance, emergency activities</a:t>
            </a:r>
          </a:p>
        </p:txBody>
      </p:sp>
    </p:spTree>
    <p:extLst>
      <p:ext uri="{BB962C8B-B14F-4D97-AF65-F5344CB8AC3E}">
        <p14:creationId xmlns:p14="http://schemas.microsoft.com/office/powerpoint/2010/main" val="1520177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93DD2-FCD8-4F83-F609-C5F0E4A04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956733"/>
            <a:ext cx="10131425" cy="1456267"/>
          </a:xfrm>
        </p:spPr>
        <p:txBody>
          <a:bodyPr/>
          <a:lstStyle/>
          <a:p>
            <a:r>
              <a:rPr lang="en-US" b="1" dirty="0">
                <a:latin typeface="ACADEMY ENGRAVED LET PLAIN:1.0" panose="02000000000000000000" pitchFamily="2" charset="0"/>
              </a:rPr>
              <a:t>Relationship Entities:</a:t>
            </a:r>
            <a:endParaRPr lang="en-RW" dirty="0">
              <a:latin typeface="ACADEMY ENGRAVED LET PLAIN:1.0" panose="0200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56865-5CA5-EF32-0892-0F4BE0A6A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684867"/>
            <a:ext cx="10131425" cy="3649133"/>
          </a:xfrm>
        </p:spPr>
        <p:txBody>
          <a:bodyPr/>
          <a:lstStyle/>
          <a:p>
            <a:r>
              <a:rPr lang="en-US" b="1" dirty="0"/>
              <a:t>CROP_ROTATION_SCHEDULE</a:t>
            </a:r>
            <a:endParaRPr lang="en-US" dirty="0"/>
          </a:p>
          <a:p>
            <a:pPr lvl="1"/>
            <a:r>
              <a:rPr lang="en-US" dirty="0"/>
              <a:t>Multi-season planting plans</a:t>
            </a:r>
          </a:p>
          <a:p>
            <a:r>
              <a:rPr lang="en-US" b="1" dirty="0"/>
              <a:t>IRRIGATION_SCHEDULES</a:t>
            </a:r>
            <a:endParaRPr lang="en-US" dirty="0"/>
          </a:p>
          <a:p>
            <a:pPr lvl="1"/>
            <a:r>
              <a:rPr lang="en-US" dirty="0"/>
              <a:t>Water management plans</a:t>
            </a:r>
          </a:p>
          <a:p>
            <a:r>
              <a:rPr lang="en-US" b="1" dirty="0"/>
              <a:t>WEATHER_ALERTS</a:t>
            </a:r>
            <a:endParaRPr lang="en-US" dirty="0"/>
          </a:p>
          <a:p>
            <a:pPr lvl="1"/>
            <a:r>
              <a:rPr lang="en-US" dirty="0"/>
              <a:t>Environmental threat monitoring</a:t>
            </a:r>
          </a:p>
        </p:txBody>
      </p:sp>
    </p:spTree>
    <p:extLst>
      <p:ext uri="{BB962C8B-B14F-4D97-AF65-F5344CB8AC3E}">
        <p14:creationId xmlns:p14="http://schemas.microsoft.com/office/powerpoint/2010/main" val="670274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EB496-AFF4-3B9C-199E-AE8C3E358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32624"/>
            <a:ext cx="10131425" cy="1456267"/>
          </a:xfrm>
        </p:spPr>
        <p:txBody>
          <a:bodyPr/>
          <a:lstStyle/>
          <a:p>
            <a:r>
              <a:rPr lang="en-US" b="1" dirty="0">
                <a:latin typeface="ACADEMY ENGRAVED LET PLAIN:1.0" panose="02000000000000000000" pitchFamily="2" charset="0"/>
              </a:rPr>
              <a:t>Supporting Entities:</a:t>
            </a:r>
            <a:endParaRPr lang="en-RW" dirty="0">
              <a:latin typeface="ACADEMY ENGRAVED LET PLAIN:1.0" panose="0200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0819C-7966-978D-7307-8B5416B17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04433"/>
            <a:ext cx="10131425" cy="3649133"/>
          </a:xfrm>
        </p:spPr>
        <p:txBody>
          <a:bodyPr/>
          <a:lstStyle/>
          <a:p>
            <a:r>
              <a:rPr lang="en-US" b="1" dirty="0"/>
              <a:t>EMPLOYEES</a:t>
            </a:r>
            <a:endParaRPr lang="en-US" dirty="0"/>
          </a:p>
          <a:p>
            <a:pPr lvl="1"/>
            <a:r>
              <a:rPr lang="en-US" dirty="0"/>
              <a:t>Farm staff and responsibilities</a:t>
            </a:r>
          </a:p>
          <a:p>
            <a:r>
              <a:rPr lang="en-US" b="1" dirty="0"/>
              <a:t>EQUIPMENT</a:t>
            </a:r>
            <a:endParaRPr lang="en-US" dirty="0"/>
          </a:p>
          <a:p>
            <a:pPr lvl="1"/>
            <a:r>
              <a:rPr lang="en-US" dirty="0"/>
              <a:t>Farm machinery and tools</a:t>
            </a:r>
          </a:p>
          <a:p>
            <a:r>
              <a:rPr lang="en-US" b="1" dirty="0"/>
              <a:t>SUPPLIERS</a:t>
            </a:r>
            <a:endParaRPr lang="en-US" dirty="0"/>
          </a:p>
          <a:p>
            <a:pPr lvl="1"/>
            <a:r>
              <a:rPr lang="en-US" dirty="0"/>
              <a:t>Seed, fertilizer providers</a:t>
            </a:r>
          </a:p>
        </p:txBody>
      </p:sp>
    </p:spTree>
    <p:extLst>
      <p:ext uri="{BB962C8B-B14F-4D97-AF65-F5344CB8AC3E}">
        <p14:creationId xmlns:p14="http://schemas.microsoft.com/office/powerpoint/2010/main" val="74607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E3E42-20E6-1CFA-CC8F-4C1F953AB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1057094"/>
            <a:ext cx="10131425" cy="1456267"/>
          </a:xfrm>
        </p:spPr>
        <p:txBody>
          <a:bodyPr/>
          <a:lstStyle/>
          <a:p>
            <a:r>
              <a:rPr lang="en-US" b="1" dirty="0">
                <a:latin typeface="ACADEMY ENGRAVED LET PLAIN:1.0" panose="02000000000000000000" pitchFamily="2" charset="0"/>
              </a:rPr>
              <a:t>Project Benefits</a:t>
            </a:r>
            <a:endParaRPr lang="en-RW" dirty="0">
              <a:latin typeface="ACADEMY ENGRAVED LET PLAIN:1.0" panose="0200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AC5F7-0EF2-B571-6A36-0E68C36A3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785228"/>
            <a:ext cx="10131425" cy="3649133"/>
          </a:xfrm>
        </p:spPr>
        <p:txBody>
          <a:bodyPr/>
          <a:lstStyle/>
          <a:p>
            <a:r>
              <a:rPr lang="en-US" dirty="0"/>
              <a:t>Increase crop yields by 20-30% through data-driven decisions</a:t>
            </a:r>
          </a:p>
          <a:p>
            <a:r>
              <a:rPr lang="en-US" dirty="0"/>
              <a:t>Reduce water usage by 25-35% with optimized irrigation</a:t>
            </a:r>
          </a:p>
          <a:p>
            <a:r>
              <a:rPr lang="en-US" dirty="0"/>
              <a:t>Cut operational costs by 15-20% via better resource allocation</a:t>
            </a:r>
          </a:p>
          <a:p>
            <a:r>
              <a:rPr lang="en-US" dirty="0"/>
              <a:t>Enable 90% faster emergency response with automated protocols</a:t>
            </a:r>
          </a:p>
          <a:p>
            <a:r>
              <a:rPr lang="en-US" dirty="0"/>
              <a:t>Provide scalable, profitable farming solutions with competitive advantage</a:t>
            </a:r>
          </a:p>
        </p:txBody>
      </p:sp>
    </p:spTree>
    <p:extLst>
      <p:ext uri="{BB962C8B-B14F-4D97-AF65-F5344CB8AC3E}">
        <p14:creationId xmlns:p14="http://schemas.microsoft.com/office/powerpoint/2010/main" val="21948182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22</TotalTime>
  <Words>288</Words>
  <Application>Microsoft Macintosh PowerPoint</Application>
  <PresentationFormat>Widescreen</PresentationFormat>
  <Paragraphs>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ACADEMY ENGRAVED LET PLAIN:1.0</vt:lpstr>
      <vt:lpstr>Arial</vt:lpstr>
      <vt:lpstr>Calibri</vt:lpstr>
      <vt:lpstr>Calibri Light</vt:lpstr>
      <vt:lpstr>Celestial</vt:lpstr>
      <vt:lpstr>Agrodata Engine</vt:lpstr>
      <vt:lpstr>Problem statement</vt:lpstr>
      <vt:lpstr>PowerPoint Presentation</vt:lpstr>
      <vt:lpstr>Goals:</vt:lpstr>
      <vt:lpstr>objectives</vt:lpstr>
      <vt:lpstr>Success Metrics:</vt:lpstr>
      <vt:lpstr>Main Entities in the Database</vt:lpstr>
      <vt:lpstr>Core Entities:</vt:lpstr>
      <vt:lpstr>Relationship Entities:</vt:lpstr>
      <vt:lpstr>Supporting Entities:</vt:lpstr>
      <vt:lpstr>Project Benefits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I_paccy</dc:creator>
  <cp:lastModifiedBy>I_paccy</cp:lastModifiedBy>
  <cp:revision>1</cp:revision>
  <dcterms:created xsi:type="dcterms:W3CDTF">2025-11-10T18:36:05Z</dcterms:created>
  <dcterms:modified xsi:type="dcterms:W3CDTF">2025-11-10T18:59:01Z</dcterms:modified>
</cp:coreProperties>
</file>